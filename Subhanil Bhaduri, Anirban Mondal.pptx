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ton" pitchFamily="2" charset="0"/>
      <p:regular r:id="rId8"/>
    </p:embeddedFont>
    <p:embeddedFont>
      <p:font typeface="DM Sans" pitchFamily="2" charset="0"/>
      <p:regular r:id="rId9"/>
    </p:embeddedFont>
    <p:embeddedFont>
      <p:font typeface="DM Sa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>
            <a:off x="1029996" y="1773763"/>
            <a:ext cx="187452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023340" y="7811850"/>
            <a:ext cx="5606059" cy="1298907"/>
            <a:chOff x="0" y="0"/>
            <a:chExt cx="1041123" cy="1525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1123" cy="152552"/>
            </a:xfrm>
            <a:custGeom>
              <a:avLst/>
              <a:gdLst/>
              <a:ahLst/>
              <a:cxnLst/>
              <a:rect l="l" t="t" r="r" b="b"/>
              <a:pathLst>
                <a:path w="1041123" h="152552">
                  <a:moveTo>
                    <a:pt x="0" y="0"/>
                  </a:moveTo>
                  <a:lnTo>
                    <a:pt x="1041123" y="0"/>
                  </a:lnTo>
                  <a:lnTo>
                    <a:pt x="1041123" y="152552"/>
                  </a:lnTo>
                  <a:lnTo>
                    <a:pt x="0" y="152552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041123" cy="20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405317" y="5368344"/>
            <a:ext cx="7315200" cy="6117497"/>
          </a:xfrm>
          <a:custGeom>
            <a:avLst/>
            <a:gdLst/>
            <a:ahLst/>
            <a:cxnLst/>
            <a:rect l="l" t="t" r="r" b="b"/>
            <a:pathLst>
              <a:path w="7315200" h="6117497">
                <a:moveTo>
                  <a:pt x="0" y="0"/>
                </a:moveTo>
                <a:lnTo>
                  <a:pt x="7315200" y="0"/>
                </a:lnTo>
                <a:lnTo>
                  <a:pt x="7315200" y="6117497"/>
                </a:lnTo>
                <a:lnTo>
                  <a:pt x="0" y="6117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009650"/>
            <a:ext cx="2410664" cy="22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2"/>
              </a:lnSpc>
              <a:spcBef>
                <a:spcPct val="0"/>
              </a:spcBef>
            </a:pPr>
            <a:r>
              <a:rPr lang="en-US" sz="135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ENGINEERING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1626" y="2112254"/>
            <a:ext cx="7429346" cy="38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38B6FF"/>
                </a:solidFill>
                <a:latin typeface="DM Sans"/>
                <a:ea typeface="DM Sans"/>
                <a:cs typeface="DM Sans"/>
                <a:sym typeface="DM Sans"/>
              </a:rPr>
              <a:t>Building Scalable Real-Time Data Infrastructure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685800" y="8015191"/>
            <a:ext cx="8974286" cy="826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86"/>
              </a:lnSpc>
              <a:spcBef>
                <a:spcPct val="0"/>
              </a:spcBef>
            </a:pPr>
            <a:r>
              <a:rPr lang="en-US" sz="234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Subhanil Bhaduri - RA2512039010007</a:t>
            </a:r>
          </a:p>
          <a:p>
            <a:pPr marL="0" lvl="0" indent="0" algn="ctr">
              <a:lnSpc>
                <a:spcPts val="3286"/>
              </a:lnSpc>
              <a:spcBef>
                <a:spcPct val="0"/>
              </a:spcBef>
            </a:pPr>
            <a:r>
              <a:rPr lang="en-US" sz="2347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Anirban Mondal – RA2512039010002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1626" y="6382928"/>
            <a:ext cx="7920229" cy="791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comprehensive end-to-end pipeline leveraging Apache Kafka, Spark, and Hadoop for e-commerce analytics.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9874" y="2792403"/>
            <a:ext cx="8672048" cy="109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76"/>
              </a:lnSpc>
            </a:pPr>
            <a:r>
              <a:rPr lang="en-US" sz="805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BIG DATA E-COMMERCE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9874" y="4404314"/>
            <a:ext cx="8672048" cy="109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76"/>
              </a:lnSpc>
            </a:pPr>
            <a:r>
              <a:rPr lang="en-US" sz="8054">
                <a:solidFill>
                  <a:srgbClr val="38B6FF"/>
                </a:solidFill>
                <a:latin typeface="Anton"/>
                <a:ea typeface="Anton"/>
                <a:cs typeface="Anton"/>
                <a:sym typeface="Anton"/>
              </a:rPr>
              <a:t>PIPELINE</a:t>
            </a:r>
          </a:p>
        </p:txBody>
      </p:sp>
      <p:sp>
        <p:nvSpPr>
          <p:cNvPr id="14" name="AutoShape 14"/>
          <p:cNvSpPr/>
          <p:nvPr/>
        </p:nvSpPr>
        <p:spPr>
          <a:xfrm>
            <a:off x="0" y="9652029"/>
            <a:ext cx="12775099" cy="0"/>
          </a:xfrm>
          <a:prstGeom prst="line">
            <a:avLst/>
          </a:prstGeom>
          <a:ln w="38100" cap="flat">
            <a:solidFill>
              <a:srgbClr val="38B6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43440" y="2272811"/>
            <a:ext cx="5708001" cy="6360694"/>
            <a:chOff x="0" y="0"/>
            <a:chExt cx="778194" cy="86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8194" cy="867178"/>
            </a:xfrm>
            <a:custGeom>
              <a:avLst/>
              <a:gdLst/>
              <a:ahLst/>
              <a:cxnLst/>
              <a:rect l="l" t="t" r="r" b="b"/>
              <a:pathLst>
                <a:path w="778194" h="867178">
                  <a:moveTo>
                    <a:pt x="0" y="0"/>
                  </a:moveTo>
                  <a:lnTo>
                    <a:pt x="778194" y="0"/>
                  </a:lnTo>
                  <a:lnTo>
                    <a:pt x="778194" y="867178"/>
                  </a:lnTo>
                  <a:lnTo>
                    <a:pt x="0" y="867178"/>
                  </a:lnTo>
                  <a:close/>
                </a:path>
              </a:pathLst>
            </a:custGeom>
            <a:blipFill>
              <a:blip r:embed="rId2"/>
              <a:stretch>
                <a:fillRect t="-5479" b="-547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194569" y="2272811"/>
            <a:ext cx="3735861" cy="9219189"/>
            <a:chOff x="0" y="0"/>
            <a:chExt cx="509324" cy="125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324" cy="1256888"/>
            </a:xfrm>
            <a:custGeom>
              <a:avLst/>
              <a:gdLst/>
              <a:ahLst/>
              <a:cxnLst/>
              <a:rect l="l" t="t" r="r" b="b"/>
              <a:pathLst>
                <a:path w="509324" h="1256888">
                  <a:moveTo>
                    <a:pt x="0" y="0"/>
                  </a:moveTo>
                  <a:lnTo>
                    <a:pt x="509324" y="0"/>
                  </a:lnTo>
                  <a:lnTo>
                    <a:pt x="509324" y="1256888"/>
                  </a:lnTo>
                  <a:lnTo>
                    <a:pt x="0" y="1256888"/>
                  </a:lnTo>
                  <a:close/>
                </a:path>
              </a:pathLst>
            </a:custGeom>
            <a:blipFill>
              <a:blip r:embed="rId3"/>
              <a:stretch>
                <a:fillRect l="-20331" r="-2033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1585878" y="5699086"/>
            <a:ext cx="7315200" cy="6876288"/>
          </a:xfrm>
          <a:custGeom>
            <a:avLst/>
            <a:gdLst/>
            <a:ahLst/>
            <a:cxnLst/>
            <a:rect l="l" t="t" r="r" b="b"/>
            <a:pathLst>
              <a:path w="7315200" h="6876288">
                <a:moveTo>
                  <a:pt x="0" y="0"/>
                </a:moveTo>
                <a:lnTo>
                  <a:pt x="7315200" y="0"/>
                </a:lnTo>
                <a:lnTo>
                  <a:pt x="7315200" y="6876288"/>
                </a:lnTo>
                <a:lnTo>
                  <a:pt x="0" y="687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000125"/>
            <a:ext cx="2410664" cy="57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E-COMMERCE PIPELINE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29954" y="2586635"/>
            <a:ext cx="7429346" cy="373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3"/>
              </a:lnSpc>
              <a:spcBef>
                <a:spcPct val="0"/>
              </a:spcBef>
            </a:pPr>
            <a:r>
              <a:rPr lang="en-US" sz="2181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Building Scalable Data Infrastructure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29954" y="5903315"/>
            <a:ext cx="7314007" cy="1564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  <a:spcBef>
                <a:spcPct val="0"/>
              </a:spcBef>
            </a:pPr>
            <a:r>
              <a:rPr lang="en-US" sz="17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This project focuses on building a scalable e-commerce data pipeline capable of handling massive volumes of transactional data in real-time. By leveraging distributed processing frameworks and stream processing technologies, we enable continuous data ingestion, transformation, and storage for actionable business insights.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934" y="1000125"/>
            <a:ext cx="4167404" cy="28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WWW.BIGDATAPIPELINE.COM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88203" y="3406186"/>
            <a:ext cx="6578163" cy="200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54"/>
              </a:lnSpc>
            </a:pPr>
            <a:r>
              <a:rPr lang="en-US" sz="745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05132" y="6001485"/>
            <a:ext cx="12877736" cy="4566576"/>
            <a:chOff x="0" y="0"/>
            <a:chExt cx="1755672" cy="6225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5672" cy="622579"/>
            </a:xfrm>
            <a:custGeom>
              <a:avLst/>
              <a:gdLst/>
              <a:ahLst/>
              <a:cxnLst/>
              <a:rect l="l" t="t" r="r" b="b"/>
              <a:pathLst>
                <a:path w="1755672" h="622579">
                  <a:moveTo>
                    <a:pt x="0" y="0"/>
                  </a:moveTo>
                  <a:lnTo>
                    <a:pt x="1755672" y="0"/>
                  </a:lnTo>
                  <a:lnTo>
                    <a:pt x="1755672" y="622579"/>
                  </a:lnTo>
                  <a:lnTo>
                    <a:pt x="0" y="622579"/>
                  </a:lnTo>
                  <a:close/>
                </a:path>
              </a:pathLst>
            </a:custGeom>
            <a:blipFill>
              <a:blip r:embed="rId2"/>
              <a:stretch>
                <a:fillRect t="-30369" b="-3036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573507" y="4367351"/>
            <a:ext cx="3731714" cy="4087475"/>
            <a:chOff x="0" y="0"/>
            <a:chExt cx="982838" cy="10765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2838" cy="1076537"/>
            </a:xfrm>
            <a:custGeom>
              <a:avLst/>
              <a:gdLst/>
              <a:ahLst/>
              <a:cxnLst/>
              <a:rect l="l" t="t" r="r" b="b"/>
              <a:pathLst>
                <a:path w="982838" h="1076537">
                  <a:moveTo>
                    <a:pt x="0" y="0"/>
                  </a:moveTo>
                  <a:lnTo>
                    <a:pt x="982838" y="0"/>
                  </a:lnTo>
                  <a:lnTo>
                    <a:pt x="982838" y="1076537"/>
                  </a:lnTo>
                  <a:lnTo>
                    <a:pt x="0" y="1076537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82838" cy="1114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46779" y="4367351"/>
            <a:ext cx="3731714" cy="4087475"/>
            <a:chOff x="0" y="0"/>
            <a:chExt cx="982838" cy="10765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2838" cy="1076537"/>
            </a:xfrm>
            <a:custGeom>
              <a:avLst/>
              <a:gdLst/>
              <a:ahLst/>
              <a:cxnLst/>
              <a:rect l="l" t="t" r="r" b="b"/>
              <a:pathLst>
                <a:path w="982838" h="1076537">
                  <a:moveTo>
                    <a:pt x="0" y="0"/>
                  </a:moveTo>
                  <a:lnTo>
                    <a:pt x="982838" y="0"/>
                  </a:lnTo>
                  <a:lnTo>
                    <a:pt x="982838" y="1076537"/>
                  </a:lnTo>
                  <a:lnTo>
                    <a:pt x="0" y="1076537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82838" cy="1114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85678" y="6242841"/>
            <a:ext cx="2707372" cy="150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2"/>
              </a:lnSpc>
              <a:spcBef>
                <a:spcPct val="0"/>
              </a:spcBef>
            </a:pPr>
            <a:r>
              <a:rPr lang="en-US" sz="17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Apache Kafka enables real-time data streaming from e-commerce sources with high throughput and fault tolerance.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79301" y="6242841"/>
            <a:ext cx="2866669" cy="150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2"/>
              </a:lnSpc>
              <a:spcBef>
                <a:spcPct val="0"/>
              </a:spcBef>
            </a:pPr>
            <a:r>
              <a:rPr lang="en-US" sz="17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Apache Spark provides distributed processing for large-scale data transformation and analytics.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009650"/>
            <a:ext cx="2410664" cy="54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2"/>
              </a:lnSpc>
              <a:spcBef>
                <a:spcPct val="0"/>
              </a:spcBef>
            </a:pPr>
            <a:r>
              <a:rPr lang="en-US" sz="163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E-COMMERCE PIPELINE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28934" y="1009650"/>
            <a:ext cx="4167404" cy="26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2"/>
              </a:lnSpc>
              <a:spcBef>
                <a:spcPct val="0"/>
              </a:spcBef>
            </a:pPr>
            <a:r>
              <a:rPr lang="en-US" sz="1630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WWW.BIGDATAPIPELINE.COM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55241" y="2584098"/>
            <a:ext cx="9977517" cy="98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6"/>
              </a:lnSpc>
            </a:pPr>
            <a:r>
              <a:rPr lang="en-US" sz="71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TECH STACK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51286" y="4944210"/>
            <a:ext cx="1576154" cy="98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6"/>
              </a:lnSpc>
            </a:pPr>
            <a:r>
              <a:rPr lang="en-US" sz="71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24559" y="4944210"/>
            <a:ext cx="1576154" cy="98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6"/>
              </a:lnSpc>
            </a:pPr>
            <a:r>
              <a:rPr lang="en-US" sz="71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29327" y="1877180"/>
            <a:ext cx="7429346" cy="3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8"/>
              </a:lnSpc>
              <a:spcBef>
                <a:spcPct val="0"/>
              </a:spcBef>
            </a:pPr>
            <a:r>
              <a:rPr lang="en-US" sz="2091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Core Streaming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39062" y="2227202"/>
            <a:ext cx="7020238" cy="3145789"/>
            <a:chOff x="0" y="0"/>
            <a:chExt cx="957096" cy="4288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7096" cy="428878"/>
            </a:xfrm>
            <a:custGeom>
              <a:avLst/>
              <a:gdLst/>
              <a:ahLst/>
              <a:cxnLst/>
              <a:rect l="l" t="t" r="r" b="b"/>
              <a:pathLst>
                <a:path w="957096" h="428878">
                  <a:moveTo>
                    <a:pt x="0" y="0"/>
                  </a:moveTo>
                  <a:lnTo>
                    <a:pt x="957096" y="0"/>
                  </a:lnTo>
                  <a:lnTo>
                    <a:pt x="957096" y="428878"/>
                  </a:lnTo>
                  <a:lnTo>
                    <a:pt x="0" y="428878"/>
                  </a:lnTo>
                  <a:close/>
                </a:path>
              </a:pathLst>
            </a:custGeom>
            <a:blipFill>
              <a:blip r:embed="rId2"/>
              <a:stretch>
                <a:fillRect t="-13601" b="-1360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5692771"/>
            <a:ext cx="8467798" cy="3318385"/>
            <a:chOff x="0" y="0"/>
            <a:chExt cx="1154448" cy="4524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4448" cy="452408"/>
            </a:xfrm>
            <a:custGeom>
              <a:avLst/>
              <a:gdLst/>
              <a:ahLst/>
              <a:cxnLst/>
              <a:rect l="l" t="t" r="r" b="b"/>
              <a:pathLst>
                <a:path w="1154448" h="452408">
                  <a:moveTo>
                    <a:pt x="0" y="0"/>
                  </a:moveTo>
                  <a:lnTo>
                    <a:pt x="1154448" y="0"/>
                  </a:lnTo>
                  <a:lnTo>
                    <a:pt x="1154448" y="452408"/>
                  </a:lnTo>
                  <a:lnTo>
                    <a:pt x="0" y="452408"/>
                  </a:lnTo>
                  <a:close/>
                </a:path>
              </a:pathLst>
            </a:custGeom>
            <a:blipFill>
              <a:blip r:embed="rId3"/>
              <a:stretch>
                <a:fillRect t="-22725" b="-2272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0220657" y="6715281"/>
            <a:ext cx="727518" cy="718903"/>
          </a:xfrm>
          <a:custGeom>
            <a:avLst/>
            <a:gdLst/>
            <a:ahLst/>
            <a:cxnLst/>
            <a:rect l="l" t="t" r="r" b="b"/>
            <a:pathLst>
              <a:path w="727518" h="718903">
                <a:moveTo>
                  <a:pt x="0" y="0"/>
                </a:moveTo>
                <a:lnTo>
                  <a:pt x="727519" y="0"/>
                </a:lnTo>
                <a:lnTo>
                  <a:pt x="727519" y="718903"/>
                </a:lnTo>
                <a:lnTo>
                  <a:pt x="0" y="718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153136" y="6471912"/>
            <a:ext cx="9086672" cy="5179403"/>
          </a:xfrm>
          <a:custGeom>
            <a:avLst/>
            <a:gdLst/>
            <a:ahLst/>
            <a:cxnLst/>
            <a:rect l="l" t="t" r="r" b="b"/>
            <a:pathLst>
              <a:path w="9086672" h="5179403">
                <a:moveTo>
                  <a:pt x="0" y="0"/>
                </a:moveTo>
                <a:lnTo>
                  <a:pt x="9086672" y="0"/>
                </a:lnTo>
                <a:lnTo>
                  <a:pt x="9086672" y="5179403"/>
                </a:lnTo>
                <a:lnTo>
                  <a:pt x="0" y="5179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009650"/>
            <a:ext cx="2410664" cy="442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6"/>
              </a:lnSpc>
              <a:spcBef>
                <a:spcPct val="0"/>
              </a:spcBef>
            </a:pPr>
            <a:r>
              <a:rPr lang="en-US" sz="131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E-COMMERCE PIPELINE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39062" y="6082537"/>
            <a:ext cx="3510119" cy="27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3"/>
              </a:lnSpc>
              <a:spcBef>
                <a:spcPct val="0"/>
              </a:spcBef>
            </a:pPr>
            <a:r>
              <a:rPr lang="en-US" sz="158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DEVELOPMENT TOOLS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934" y="1009650"/>
            <a:ext cx="4167404" cy="214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  <a:spcBef>
                <a:spcPct val="0"/>
              </a:spcBef>
            </a:pPr>
            <a:r>
              <a:rPr lang="en-US" sz="1311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WWW.BIGDATAPIPELINE.IO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1401" y="2798500"/>
            <a:ext cx="8375097" cy="1536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5"/>
              </a:lnSpc>
            </a:pPr>
            <a:r>
              <a:rPr lang="en-US" sz="575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STORAGE &amp; DEVELOPMENT STACK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026574"/>
            <a:ext cx="7429346" cy="28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56"/>
              </a:lnSpc>
              <a:spcBef>
                <a:spcPct val="0"/>
              </a:spcBef>
            </a:pPr>
            <a:r>
              <a:rPr lang="en-US" sz="1683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Hadoop/HDFS, Python &amp; Configuration Tools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39062" y="7704631"/>
            <a:ext cx="7020238" cy="46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3"/>
              </a:lnSpc>
              <a:spcBef>
                <a:spcPct val="0"/>
              </a:spcBef>
            </a:pPr>
            <a:r>
              <a:rPr lang="en-US" sz="13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YAML configuration files manage pipeline settings and environment variables. Shell scripting automates deployment, job scheduling, and cluster management tasks.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19765" y="6747987"/>
            <a:ext cx="5625637" cy="46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3"/>
              </a:lnSpc>
              <a:spcBef>
                <a:spcPct val="0"/>
              </a:spcBef>
            </a:pPr>
            <a:r>
              <a:rPr lang="en-US" sz="13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Python and Jupyter Notebook provide the development environment for data analysis, visualization, and prototyping pipeline components.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280324"/>
            <a:ext cx="7859474" cy="5704859"/>
            <a:chOff x="0" y="0"/>
            <a:chExt cx="659068" cy="4783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9068" cy="478390"/>
            </a:xfrm>
            <a:custGeom>
              <a:avLst/>
              <a:gdLst/>
              <a:ahLst/>
              <a:cxnLst/>
              <a:rect l="l" t="t" r="r" b="b"/>
              <a:pathLst>
                <a:path w="659068" h="478390">
                  <a:moveTo>
                    <a:pt x="0" y="0"/>
                  </a:moveTo>
                  <a:lnTo>
                    <a:pt x="659068" y="0"/>
                  </a:lnTo>
                  <a:lnTo>
                    <a:pt x="659068" y="478390"/>
                  </a:lnTo>
                  <a:lnTo>
                    <a:pt x="0" y="478390"/>
                  </a:lnTo>
                  <a:close/>
                </a:path>
              </a:pathLst>
            </a:custGeom>
            <a:blipFill>
              <a:blip r:embed="rId2"/>
              <a:stretch>
                <a:fillRect t="-1404" b="-140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338083" y="4719878"/>
            <a:ext cx="4189183" cy="4021302"/>
            <a:chOff x="0" y="0"/>
            <a:chExt cx="1103324" cy="10591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3324" cy="1059108"/>
            </a:xfrm>
            <a:custGeom>
              <a:avLst/>
              <a:gdLst/>
              <a:ahLst/>
              <a:cxnLst/>
              <a:rect l="l" t="t" r="r" b="b"/>
              <a:pathLst>
                <a:path w="1103324" h="1059108">
                  <a:moveTo>
                    <a:pt x="0" y="0"/>
                  </a:moveTo>
                  <a:lnTo>
                    <a:pt x="1103324" y="0"/>
                  </a:lnTo>
                  <a:lnTo>
                    <a:pt x="1103324" y="1059108"/>
                  </a:lnTo>
                  <a:lnTo>
                    <a:pt x="0" y="1059108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03324" cy="1097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28934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0" y="0"/>
                </a:moveTo>
                <a:lnTo>
                  <a:pt x="7315200" y="0"/>
                </a:lnTo>
                <a:lnTo>
                  <a:pt x="7315200" y="1901952"/>
                </a:lnTo>
                <a:lnTo>
                  <a:pt x="0" y="19019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104608" y="5167132"/>
            <a:ext cx="734633" cy="888001"/>
          </a:xfrm>
          <a:custGeom>
            <a:avLst/>
            <a:gdLst/>
            <a:ahLst/>
            <a:cxnLst/>
            <a:rect l="l" t="t" r="r" b="b"/>
            <a:pathLst>
              <a:path w="734633" h="888001">
                <a:moveTo>
                  <a:pt x="0" y="0"/>
                </a:moveTo>
                <a:lnTo>
                  <a:pt x="734633" y="0"/>
                </a:lnTo>
                <a:lnTo>
                  <a:pt x="734633" y="888001"/>
                </a:lnTo>
                <a:lnTo>
                  <a:pt x="0" y="88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000125"/>
            <a:ext cx="2410664" cy="62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88"/>
              </a:lnSpc>
              <a:spcBef>
                <a:spcPct val="0"/>
              </a:spcBef>
            </a:pPr>
            <a:r>
              <a:rPr lang="en-US" sz="184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E-COMMERCE PIPELINE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934" y="1000125"/>
            <a:ext cx="4167404" cy="30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8"/>
              </a:lnSpc>
              <a:spcBef>
                <a:spcPct val="0"/>
              </a:spcBef>
            </a:pPr>
            <a:r>
              <a:rPr lang="en-US" sz="1848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55491" y="3462210"/>
            <a:ext cx="6540847" cy="223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62"/>
              </a:lnSpc>
            </a:pPr>
            <a:r>
              <a:rPr lang="en-US" sz="83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PROJECT ARCHITECTURE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7367" y="6357935"/>
            <a:ext cx="3450614" cy="132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18"/>
              </a:lnSpc>
            </a:pPr>
            <a:r>
              <a:rPr lang="en-US" sz="49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END-TO-END PIPELINE FLOW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55491" y="2633134"/>
            <a:ext cx="5765237" cy="406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1"/>
              </a:lnSpc>
              <a:spcBef>
                <a:spcPct val="0"/>
              </a:spcBef>
            </a:pPr>
            <a:r>
              <a:rPr lang="en-US" sz="2372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Design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55491" y="6085579"/>
            <a:ext cx="5874214" cy="203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4"/>
              </a:lnSpc>
              <a:spcBef>
                <a:spcPct val="0"/>
              </a:spcBef>
            </a:pPr>
            <a:r>
              <a:rPr lang="en-US" sz="19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E-Commerce Data → Kafka Producer → Spark Processing → HDFS Storage → Analysis</a:t>
            </a:r>
          </a:p>
          <a:p>
            <a:pPr marL="0" lvl="0" indent="0" algn="l">
              <a:lnSpc>
                <a:spcPts val="2724"/>
              </a:lnSpc>
              <a:spcBef>
                <a:spcPct val="0"/>
              </a:spcBef>
            </a:pPr>
            <a:r>
              <a:rPr lang="en-US" sz="19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Our distributed architecture enables real-time data ingestion through Kafka, processes streams with Spark, stores results in HDFS, and delivers actionable analytics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907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438738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0" y="0"/>
                </a:moveTo>
                <a:lnTo>
                  <a:pt x="7315200" y="0"/>
                </a:lnTo>
                <a:lnTo>
                  <a:pt x="7315200" y="1901952"/>
                </a:lnTo>
                <a:lnTo>
                  <a:pt x="0" y="19019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2245207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7315200" y="0"/>
                </a:moveTo>
                <a:lnTo>
                  <a:pt x="0" y="0"/>
                </a:lnTo>
                <a:lnTo>
                  <a:pt x="0" y="1901952"/>
                </a:lnTo>
                <a:lnTo>
                  <a:pt x="7315200" y="1901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990600"/>
            <a:ext cx="2410664" cy="989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E-COMMERCE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28934" y="990600"/>
            <a:ext cx="4167404" cy="3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GITHUB.COM/PROJECT-REPO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60038" y="3146967"/>
            <a:ext cx="12567924" cy="2245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43"/>
              </a:lnSpc>
            </a:pPr>
            <a:r>
              <a:rPr lang="en-US" sz="16483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69993" y="2118601"/>
            <a:ext cx="8148015" cy="584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21"/>
              </a:lnSpc>
              <a:spcBef>
                <a:spcPct val="0"/>
              </a:spcBef>
            </a:pPr>
            <a:r>
              <a:rPr lang="en-US" sz="3443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E-Commerce Pipeline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25986" y="7823649"/>
            <a:ext cx="9036029" cy="69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Contact: email@university.edu | Project Repository: github.com/bigdata-ecommerce-pipeline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289</Words>
  <Application>Microsoft Office PowerPoint</Application>
  <PresentationFormat>Custom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DM Sans Bold</vt:lpstr>
      <vt:lpstr>Arial</vt:lpstr>
      <vt:lpstr>Anton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RA2512039010002, 10007</dc:title>
  <cp:lastModifiedBy>Subhanil Bhaduri</cp:lastModifiedBy>
  <cp:revision>2</cp:revision>
  <dcterms:created xsi:type="dcterms:W3CDTF">2006-08-16T00:00:00Z</dcterms:created>
  <dcterms:modified xsi:type="dcterms:W3CDTF">2026-05-06T06:59:28Z</dcterms:modified>
  <dc:identifier>DAHI3kvjya0</dc:identifier>
</cp:coreProperties>
</file>